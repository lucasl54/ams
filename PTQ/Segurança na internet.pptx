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61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51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33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8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12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55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77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3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07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12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577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831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1223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1572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979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444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85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4C7826D-DA47-4AF1-B884-FF68279E2E9F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617BCF-7ECC-4E41-8C02-CCE2FA728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650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69AAF59-7F26-69B6-AEEF-8D919DC7A1F1}"/>
              </a:ext>
            </a:extLst>
          </p:cNvPr>
          <p:cNvSpPr/>
          <p:nvPr/>
        </p:nvSpPr>
        <p:spPr>
          <a:xfrm>
            <a:off x="522514" y="3228392"/>
            <a:ext cx="5299787" cy="294847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C46322-C703-0E3E-F759-584B4DF1A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828" y="0"/>
            <a:ext cx="8949613" cy="2387600"/>
          </a:xfrm>
        </p:spPr>
        <p:txBody>
          <a:bodyPr>
            <a:normAutofit/>
          </a:bodyPr>
          <a:lstStyle/>
          <a:p>
            <a:r>
              <a:rPr lang="pt-BR" sz="6000" dirty="0">
                <a:solidFill>
                  <a:schemeClr val="tx1">
                    <a:lumMod val="95000"/>
                  </a:schemeClr>
                </a:solidFill>
                <a:latin typeface="Agency FB" panose="020B0503020202020204" pitchFamily="34" charset="0"/>
              </a:rPr>
              <a:t>Segurança na internet</a:t>
            </a:r>
            <a:br>
              <a:rPr lang="pt-BR" dirty="0"/>
            </a:br>
            <a:r>
              <a:rPr lang="pt-BR" sz="1600" dirty="0">
                <a:solidFill>
                  <a:srgbClr val="C00000"/>
                </a:solidFill>
                <a:latin typeface="Agency FB" panose="020B0503020202020204" pitchFamily="34" charset="0"/>
              </a:rPr>
              <a:t>criado</a:t>
            </a:r>
            <a:r>
              <a:rPr lang="pt-BR" sz="1100" dirty="0">
                <a:solidFill>
                  <a:srgbClr val="C00000"/>
                </a:solidFill>
                <a:latin typeface="Agency FB" panose="020B0503020202020204" pitchFamily="34" charset="0"/>
              </a:rPr>
              <a:t> </a:t>
            </a:r>
            <a:r>
              <a:rPr lang="pt-BR" sz="1600" dirty="0">
                <a:solidFill>
                  <a:srgbClr val="C00000"/>
                </a:solidFill>
                <a:latin typeface="Agency FB" panose="020B0503020202020204" pitchFamily="34" charset="0"/>
              </a:rPr>
              <a:t>por</a:t>
            </a:r>
            <a:r>
              <a:rPr lang="pt-BR" sz="1100" dirty="0">
                <a:solidFill>
                  <a:srgbClr val="C00000"/>
                </a:solidFill>
                <a:latin typeface="Agency FB" panose="020B0503020202020204" pitchFamily="34" charset="0"/>
              </a:rPr>
              <a:t> </a:t>
            </a:r>
            <a:r>
              <a:rPr lang="pt-BR" sz="1600" dirty="0">
                <a:solidFill>
                  <a:srgbClr val="C00000"/>
                </a:solidFill>
                <a:latin typeface="Agency FB" panose="020B0503020202020204" pitchFamily="34" charset="0"/>
              </a:rPr>
              <a:t>Lucas e Vitor</a:t>
            </a:r>
            <a:endParaRPr lang="pt-BR" sz="1200" dirty="0">
              <a:solidFill>
                <a:srgbClr val="C0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1385E0-B728-6E2D-FF5C-996C1DE8F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828" y="3606281"/>
            <a:ext cx="4782072" cy="2570584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Esse trabalho explicara as formas que a internet te protege, onde ocorre cyber bullying, formas de cyber bullying. Sites maliciosos e acesso facilitado a conteúdos mais 18</a:t>
            </a:r>
          </a:p>
        </p:txBody>
      </p:sp>
    </p:spTree>
    <p:extLst>
      <p:ext uri="{BB962C8B-B14F-4D97-AF65-F5344CB8AC3E}">
        <p14:creationId xmlns:p14="http://schemas.microsoft.com/office/powerpoint/2010/main" val="392424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34DEF1D-E2A7-91EB-BEF0-57FCED9BBFE0}"/>
              </a:ext>
            </a:extLst>
          </p:cNvPr>
          <p:cNvSpPr/>
          <p:nvPr/>
        </p:nvSpPr>
        <p:spPr>
          <a:xfrm>
            <a:off x="877077" y="1656184"/>
            <a:ext cx="6018245" cy="4945918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26F841-A55F-13E6-399E-C4666A6E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46" y="279225"/>
            <a:ext cx="8534400" cy="1507067"/>
          </a:xfrm>
        </p:spPr>
        <p:txBody>
          <a:bodyPr>
            <a:normAutofit/>
          </a:bodyPr>
          <a:lstStyle/>
          <a:p>
            <a:r>
              <a:rPr lang="pt-BR" sz="4400" dirty="0">
                <a:latin typeface="Agency FB" panose="020B0503020202020204" pitchFamily="34" charset="0"/>
              </a:rPr>
              <a:t>Formas de proteção utilizados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DB2585-9A9F-0E7F-87E4-F814EC5C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751" y="2066731"/>
            <a:ext cx="5427339" cy="418477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pt-BR" sz="2800" dirty="0"/>
              <a:t>Criptografia</a:t>
            </a:r>
          </a:p>
          <a:p>
            <a:pPr marL="457200" indent="-457200">
              <a:buAutoNum type="arabicPeriod"/>
            </a:pPr>
            <a:r>
              <a:rPr lang="pt-BR" sz="2800" dirty="0"/>
              <a:t>Autenticação e controle de acesso</a:t>
            </a:r>
          </a:p>
          <a:p>
            <a:pPr marL="457200" indent="-457200">
              <a:buAutoNum type="arabicPeriod"/>
            </a:pPr>
            <a:r>
              <a:rPr lang="pt-BR" sz="2800" dirty="0"/>
              <a:t>Firewall e WAF</a:t>
            </a:r>
          </a:p>
          <a:p>
            <a:pPr marL="457200" indent="-457200">
              <a:buAutoNum type="arabicPeriod"/>
            </a:pPr>
            <a:r>
              <a:rPr lang="pt-BR" sz="2800" dirty="0"/>
              <a:t>Validação de dados</a:t>
            </a:r>
          </a:p>
          <a:p>
            <a:pPr marL="457200" indent="-457200">
              <a:buAutoNum type="arabicPeriod"/>
            </a:pPr>
            <a:r>
              <a:rPr lang="pt-BR" sz="2800" dirty="0"/>
              <a:t>Senhas seguras e hashing 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FBE4738-EE90-5998-BF53-17CCD3C9FE5C}"/>
              </a:ext>
            </a:extLst>
          </p:cNvPr>
          <p:cNvCxnSpPr>
            <a:cxnSpLocks/>
          </p:cNvCxnSpPr>
          <p:nvPr/>
        </p:nvCxnSpPr>
        <p:spPr>
          <a:xfrm>
            <a:off x="1231641" y="3079102"/>
            <a:ext cx="5178490" cy="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DCBD2E9F-FC70-D15A-C34D-19485C7382E3}"/>
              </a:ext>
            </a:extLst>
          </p:cNvPr>
          <p:cNvCxnSpPr>
            <a:cxnSpLocks/>
          </p:cNvCxnSpPr>
          <p:nvPr/>
        </p:nvCxnSpPr>
        <p:spPr>
          <a:xfrm>
            <a:off x="1231641" y="4096139"/>
            <a:ext cx="5178490" cy="0"/>
          </a:xfrm>
          <a:prstGeom prst="line">
            <a:avLst/>
          </a:prstGeom>
          <a:ln>
            <a:solidFill>
              <a:schemeClr val="bg1">
                <a:lumMod val="95000"/>
                <a:lumOff val="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478B2EE-D33A-1176-628F-231EFC8D840B}"/>
              </a:ext>
            </a:extLst>
          </p:cNvPr>
          <p:cNvCxnSpPr>
            <a:cxnSpLocks/>
          </p:cNvCxnSpPr>
          <p:nvPr/>
        </p:nvCxnSpPr>
        <p:spPr>
          <a:xfrm>
            <a:off x="1231641" y="4767943"/>
            <a:ext cx="5178490" cy="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2C086B1-4857-46AC-C5C3-080912642E43}"/>
              </a:ext>
            </a:extLst>
          </p:cNvPr>
          <p:cNvCxnSpPr>
            <a:cxnSpLocks/>
          </p:cNvCxnSpPr>
          <p:nvPr/>
        </p:nvCxnSpPr>
        <p:spPr>
          <a:xfrm>
            <a:off x="1231641" y="5281127"/>
            <a:ext cx="5178490" cy="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18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7D487504-2471-D04D-BD8B-C437E905E623}"/>
              </a:ext>
            </a:extLst>
          </p:cNvPr>
          <p:cNvSpPr/>
          <p:nvPr/>
        </p:nvSpPr>
        <p:spPr>
          <a:xfrm>
            <a:off x="684211" y="1964094"/>
            <a:ext cx="6005838" cy="391419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E86545-639D-FD40-51ED-FF52EB71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14" y="344540"/>
            <a:ext cx="8534400" cy="1507067"/>
          </a:xfrm>
        </p:spPr>
        <p:txBody>
          <a:bodyPr>
            <a:normAutofit/>
          </a:bodyPr>
          <a:lstStyle/>
          <a:p>
            <a:r>
              <a:rPr lang="pt-BR" sz="4800" dirty="0">
                <a:latin typeface="Agency FB" panose="020B0503020202020204" pitchFamily="34" charset="0"/>
              </a:rPr>
              <a:t>Criptografia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A30AA0-82C8-1DFD-9DD0-DEF348FDE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758" y="2948993"/>
            <a:ext cx="4721291" cy="3041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bg1"/>
                </a:solidFill>
              </a:rPr>
              <a:t>                Tipos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1.Criptografia Simétrica</a:t>
            </a:r>
          </a:p>
          <a:p>
            <a:pPr marL="0" indent="0">
              <a:buNone/>
            </a:pPr>
            <a:r>
              <a:rPr lang="pt-BR" sz="1100" dirty="0">
                <a:solidFill>
                  <a:schemeClr val="bg1"/>
                </a:solidFill>
              </a:rPr>
              <a:t>Usa </a:t>
            </a:r>
            <a:r>
              <a:rPr lang="pt-BR" sz="1100" b="1" dirty="0">
                <a:solidFill>
                  <a:schemeClr val="bg1"/>
                </a:solidFill>
              </a:rPr>
              <a:t>a mesma chave</a:t>
            </a:r>
            <a:r>
              <a:rPr lang="pt-BR" sz="1100" dirty="0">
                <a:solidFill>
                  <a:schemeClr val="bg1"/>
                </a:solidFill>
              </a:rPr>
              <a:t> para criptografar e descriptografar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2. Criptografia Assimétrica</a:t>
            </a:r>
          </a:p>
          <a:p>
            <a:pPr marL="0" indent="0">
              <a:buNone/>
            </a:pPr>
            <a:r>
              <a:rPr lang="pt-BR" sz="1100" dirty="0">
                <a:solidFill>
                  <a:schemeClr val="bg1"/>
                </a:solidFill>
              </a:rPr>
              <a:t>Usa </a:t>
            </a:r>
            <a:r>
              <a:rPr lang="pt-BR" sz="1100" b="1" dirty="0">
                <a:solidFill>
                  <a:schemeClr val="bg1"/>
                </a:solidFill>
              </a:rPr>
              <a:t>duas chaves</a:t>
            </a:r>
            <a:r>
              <a:rPr lang="pt-BR" sz="1100" dirty="0">
                <a:solidFill>
                  <a:schemeClr val="bg1"/>
                </a:solidFill>
              </a:rPr>
              <a:t>: </a:t>
            </a:r>
            <a:r>
              <a:rPr lang="pt-BR" sz="1050" dirty="0">
                <a:solidFill>
                  <a:schemeClr val="bg1"/>
                </a:solidFill>
              </a:rPr>
              <a:t>Chave pública e outra privada</a:t>
            </a:r>
          </a:p>
          <a:p>
            <a:pPr marL="0" indent="0">
              <a:buNone/>
            </a:pPr>
            <a:r>
              <a:rPr lang="pt-BR" sz="1600" b="1" dirty="0">
                <a:solidFill>
                  <a:schemeClr val="bg1"/>
                </a:solidFill>
              </a:rPr>
              <a:t>3. </a:t>
            </a:r>
            <a:r>
              <a:rPr lang="pt-BR" b="1" dirty="0">
                <a:solidFill>
                  <a:schemeClr val="bg1"/>
                </a:solidFill>
              </a:rPr>
              <a:t>Funções</a:t>
            </a:r>
            <a:r>
              <a:rPr lang="pt-BR" sz="1600" b="1" dirty="0">
                <a:solidFill>
                  <a:schemeClr val="bg1"/>
                </a:solidFill>
              </a:rPr>
              <a:t> Hash (não reversível)</a:t>
            </a:r>
          </a:p>
          <a:p>
            <a:pPr marL="0" indent="0">
              <a:buNone/>
            </a:pPr>
            <a:r>
              <a:rPr lang="pt-BR" sz="1600" b="1" dirty="0">
                <a:solidFill>
                  <a:schemeClr val="bg1"/>
                </a:solidFill>
              </a:rPr>
              <a:t>Transforma dados em valores fixos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800" b="1" dirty="0"/>
          </a:p>
          <a:p>
            <a:endParaRPr lang="pt-BR" sz="1100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8F8C09C-608C-299E-C55C-103925167848}"/>
              </a:ext>
            </a:extLst>
          </p:cNvPr>
          <p:cNvSpPr/>
          <p:nvPr/>
        </p:nvSpPr>
        <p:spPr>
          <a:xfrm>
            <a:off x="6893783" y="681135"/>
            <a:ext cx="5085168" cy="549573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0748A1-C353-6FF4-230B-1B8965F9DBBA}"/>
              </a:ext>
            </a:extLst>
          </p:cNvPr>
          <p:cNvSpPr txBox="1"/>
          <p:nvPr/>
        </p:nvSpPr>
        <p:spPr>
          <a:xfrm>
            <a:off x="7522045" y="963427"/>
            <a:ext cx="4161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             </a:t>
            </a:r>
            <a:r>
              <a:rPr lang="pt-BR" sz="2400" dirty="0">
                <a:solidFill>
                  <a:srgbClr val="C00000"/>
                </a:solidFill>
              </a:rPr>
              <a:t>como funciona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15CBB3-51CD-7FCB-AC29-01BB8DDF147D}"/>
              </a:ext>
            </a:extLst>
          </p:cNvPr>
          <p:cNvSpPr txBox="1"/>
          <p:nvPr/>
        </p:nvSpPr>
        <p:spPr>
          <a:xfrm>
            <a:off x="7061726" y="1721380"/>
            <a:ext cx="47492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criptografia e um jeito de ocultar dados usando chaves e algoritmos escondendo informações pessoais. Utilizando a criptografia os sites </a:t>
            </a:r>
          </a:p>
          <a:p>
            <a:r>
              <a:rPr lang="pt-BR" dirty="0">
                <a:solidFill>
                  <a:schemeClr val="bg1"/>
                </a:solidFill>
              </a:rPr>
              <a:t>Conseguem esconder suas informações pessoais de pessoas mal intencionadas</a:t>
            </a:r>
          </a:p>
          <a:p>
            <a:r>
              <a:rPr lang="pt-BR" dirty="0">
                <a:solidFill>
                  <a:schemeClr val="bg1"/>
                </a:solidFill>
              </a:rPr>
              <a:t>Também a criptografia e utilizada para ocultar mensagens isso e usado no epp</a:t>
            </a:r>
          </a:p>
          <a:p>
            <a:r>
              <a:rPr lang="pt-BR" dirty="0">
                <a:solidFill>
                  <a:schemeClr val="bg1"/>
                </a:solidFill>
              </a:rPr>
              <a:t>WhatsApp para ninguém conseguir ler suas massagens.</a:t>
            </a:r>
          </a:p>
        </p:txBody>
      </p:sp>
    </p:spTree>
    <p:extLst>
      <p:ext uri="{BB962C8B-B14F-4D97-AF65-F5344CB8AC3E}">
        <p14:creationId xmlns:p14="http://schemas.microsoft.com/office/powerpoint/2010/main" val="136604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D48A7F7-9AD6-1571-B79B-2BA024AA547F}"/>
              </a:ext>
            </a:extLst>
          </p:cNvPr>
          <p:cNvSpPr/>
          <p:nvPr/>
        </p:nvSpPr>
        <p:spPr>
          <a:xfrm>
            <a:off x="404294" y="1800808"/>
            <a:ext cx="7722669" cy="4497355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58F812-7980-CEED-4944-20661E3B3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94" y="450460"/>
            <a:ext cx="8534400" cy="1507067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Agency FB" panose="020B0503020202020204" pitchFamily="34" charset="0"/>
              </a:rPr>
              <a:t>Autenticação e controle de acesso</a:t>
            </a:r>
            <a:br>
              <a:rPr lang="pt-BR" sz="3600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2F2ADC-F925-6D32-38F9-46D57CE71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746" y="1957527"/>
            <a:ext cx="6960637" cy="40887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                             </a:t>
            </a:r>
            <a:r>
              <a:rPr lang="pt-BR" sz="3600" dirty="0">
                <a:solidFill>
                  <a:srgbClr val="C00000"/>
                </a:solidFill>
                <a:latin typeface="Agency FB" panose="020B0503020202020204" pitchFamily="34" charset="0"/>
              </a:rPr>
              <a:t>Como funciona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A </a:t>
            </a:r>
            <a:r>
              <a:rPr lang="pt-BR" b="1" dirty="0">
                <a:solidFill>
                  <a:schemeClr val="bg1"/>
                </a:solidFill>
              </a:rPr>
              <a:t>autenticação</a:t>
            </a:r>
            <a:r>
              <a:rPr lang="pt-BR" dirty="0">
                <a:solidFill>
                  <a:schemeClr val="bg1"/>
                </a:solidFill>
              </a:rPr>
              <a:t> e o </a:t>
            </a:r>
            <a:r>
              <a:rPr lang="pt-BR" b="1" dirty="0">
                <a:solidFill>
                  <a:schemeClr val="bg1"/>
                </a:solidFill>
              </a:rPr>
              <a:t>controle de acesso</a:t>
            </a:r>
            <a:r>
              <a:rPr lang="pt-BR" dirty="0">
                <a:solidFill>
                  <a:schemeClr val="bg1"/>
                </a:solidFill>
              </a:rPr>
              <a:t> são dois pilares da segurança em sistemas digitais. Eles trabalham juntos, mas têm funções diferentes de forma clara: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Autenticação É o processo de </a:t>
            </a:r>
            <a:r>
              <a:rPr lang="pt-BR" b="1" dirty="0">
                <a:solidFill>
                  <a:schemeClr val="bg1"/>
                </a:solidFill>
              </a:rPr>
              <a:t>verificar a identidade</a:t>
            </a:r>
            <a:r>
              <a:rPr lang="pt-BR" dirty="0">
                <a:solidFill>
                  <a:schemeClr val="bg1"/>
                </a:solidFill>
              </a:rPr>
              <a:t> de um usuário ou sistema.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Controle de acesso </a:t>
            </a:r>
            <a:r>
              <a:rPr lang="pt-BR" dirty="0">
                <a:solidFill>
                  <a:schemeClr val="bg1"/>
                </a:solidFill>
              </a:rPr>
              <a:t>Depois que o sistema sabe quem você é, ele decide </a:t>
            </a:r>
            <a:r>
              <a:rPr lang="pt-BR" b="1" dirty="0">
                <a:solidFill>
                  <a:schemeClr val="bg1"/>
                </a:solidFill>
              </a:rPr>
              <a:t>o que você tem permissão para acessar ou fazer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O principais modelo de controle de acesso e: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RBAC, ABAC e ACL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825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8A9126A-1501-1188-298B-E66429328465}"/>
              </a:ext>
            </a:extLst>
          </p:cNvPr>
          <p:cNvSpPr/>
          <p:nvPr/>
        </p:nvSpPr>
        <p:spPr>
          <a:xfrm>
            <a:off x="382555" y="1963574"/>
            <a:ext cx="6136699" cy="4213291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BF4F286-B79B-1882-9509-18CD3538206E}"/>
              </a:ext>
            </a:extLst>
          </p:cNvPr>
          <p:cNvSpPr/>
          <p:nvPr/>
        </p:nvSpPr>
        <p:spPr>
          <a:xfrm>
            <a:off x="7424356" y="485885"/>
            <a:ext cx="4820151" cy="591560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5EDB0C-5AC4-AFB5-F301-E27553A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56507"/>
            <a:ext cx="8534400" cy="1507067"/>
          </a:xfrm>
        </p:spPr>
        <p:txBody>
          <a:bodyPr/>
          <a:lstStyle/>
          <a:p>
            <a:r>
              <a:rPr lang="pt-BR" sz="5400" dirty="0">
                <a:latin typeface="Agency FB" panose="020B0503020202020204" pitchFamily="34" charset="0"/>
              </a:rPr>
              <a:t>Firewall e WAF</a:t>
            </a:r>
            <a:br>
              <a:rPr lang="pt-BR" sz="3600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C62130-E6B2-9CF0-9923-F2BFEDEE2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2220686"/>
            <a:ext cx="5564188" cy="3740513"/>
          </a:xfrm>
        </p:spPr>
        <p:txBody>
          <a:bodyPr/>
          <a:lstStyle/>
          <a:p>
            <a:r>
              <a:rPr lang="pt-BR" b="1" dirty="0">
                <a:solidFill>
                  <a:srgbClr val="C00000"/>
                </a:solidFill>
              </a:rPr>
              <a:t>Oque é</a:t>
            </a:r>
          </a:p>
          <a:p>
            <a:r>
              <a:rPr lang="pt-BR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Firewall</a:t>
            </a:r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 firewall é como um porteiro da rede. Ele controla quem pode entrar ou sair, com base em regras. Ele filtra trafego utilizando IP, portas e protocolos.</a:t>
            </a:r>
          </a:p>
          <a:p>
            <a:r>
              <a:rPr lang="pt-BR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WAF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r>
              <a:rPr lang="pt-BR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 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WAF é mais específico: ele protege aplicações web (sites, APIs). Ele analisa o conteúdo do http/https e bloqueia ataques comuns como </a:t>
            </a:r>
            <a:r>
              <a:rPr lang="pt-BR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SQL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pt-BR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XSS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e </a:t>
            </a:r>
            <a:r>
              <a:rPr lang="pt-BR"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CSRF</a:t>
            </a:r>
            <a:endParaRPr lang="pt-BR" sz="16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7" name="AutoShape 4" descr="Resultado de imagem para firewall">
            <a:extLst>
              <a:ext uri="{FF2B5EF4-FFF2-40B4-BE49-F238E27FC236}">
                <a16:creationId xmlns:a16="http://schemas.microsoft.com/office/drawing/2014/main" id="{1CEDCF65-ACEE-3BC6-2E47-D5E514D496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6" descr="Resultado de imagem para firewall">
            <a:extLst>
              <a:ext uri="{FF2B5EF4-FFF2-40B4-BE49-F238E27FC236}">
                <a16:creationId xmlns:a16="http://schemas.microsoft.com/office/drawing/2014/main" id="{2693FDCD-EA31-3A7A-79E4-0C973CFDF9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-293914"/>
            <a:ext cx="4027714" cy="402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2" name="Picture 8" descr="Firewall">
            <a:extLst>
              <a:ext uri="{FF2B5EF4-FFF2-40B4-BE49-F238E27FC236}">
                <a16:creationId xmlns:a16="http://schemas.microsoft.com/office/drawing/2014/main" id="{FB017D3D-FFE9-EB2C-AAB8-7679F23BA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322" y="896800"/>
            <a:ext cx="4150218" cy="506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26230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>
    <a:spDef>
      <a:spPr>
        <a:solidFill>
          <a:srgbClr val="7030A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TM02900771[[fn=Fatia]]</Template>
  <TotalTime>75</TotalTime>
  <Words>319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Agency FB</vt:lpstr>
      <vt:lpstr>Arial</vt:lpstr>
      <vt:lpstr>Century Gothic</vt:lpstr>
      <vt:lpstr>Wingdings 3</vt:lpstr>
      <vt:lpstr>Fatia</vt:lpstr>
      <vt:lpstr>Segurança na internet criado por Lucas e Vitor</vt:lpstr>
      <vt:lpstr>Formas de proteção utilizados</vt:lpstr>
      <vt:lpstr>Criptografia</vt:lpstr>
      <vt:lpstr>Autenticação e controle de acesso </vt:lpstr>
      <vt:lpstr>Firewall e WAF 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Fatec</dc:creator>
  <cp:lastModifiedBy>Fatec</cp:lastModifiedBy>
  <cp:revision>1</cp:revision>
  <dcterms:created xsi:type="dcterms:W3CDTF">2026-03-31T15:25:40Z</dcterms:created>
  <dcterms:modified xsi:type="dcterms:W3CDTF">2026-03-31T16:40:45Z</dcterms:modified>
</cp:coreProperties>
</file>